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image" Target="../media/image-3-1.png"/><Relationship Id="rId7" Type="http://schemas.openxmlformats.org/officeDocument/2006/relationships/image" Target="../media/image-3-1.png"/><Relationship Id="rId8" Type="http://schemas.openxmlformats.org/officeDocument/2006/relationships/image" Target="../media/image-3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463040"/>
            <a:ext cx="4114800" cy="4114800"/>
          </a:xfrm>
          <a:prstGeom prst="ellipse">
            <a:avLst/>
          </a:prstGeom>
          <a:solidFill>
            <a:srgbClr val="16294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3657600" cy="3657600"/>
          </a:xfrm>
          <a:prstGeom prst="ellipse">
            <a:avLst/>
          </a:prstGeom>
          <a:solidFill>
            <a:srgbClr val="1629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16294A"/>
          </a:solidFill>
          <a:ln/>
        </p:spPr>
      </p:sp>
      <p:pic>
        <p:nvPicPr>
          <p:cNvPr id="5" name="Image 0" descr="assets/icons/hom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0369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 House Price Index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Analysis Project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3886200"/>
            <a:ext cx="2011680" cy="0"/>
          </a:xfrm>
          <a:prstGeom prst="line">
            <a:avLst/>
          </a:prstGeom>
          <a:noFill/>
          <a:ln w="25400">
            <a:solidFill>
              <a:srgbClr val="BF8F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SQL  ·  Power BI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6217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HM Land Registry, UK House Price Index  |  1968 –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pipeline from raw government data to an interactive dashboard — cleaning, exploring, querying, and visualizing 57 years of UK housing prices.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5" name="Image 0" descr="assets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21323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476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2313432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 Land Registry's UK House Price Index, the official record of residential property transactions.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9" name="Image 1" descr="assets/icons/calend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336682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1821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17320" y="3547872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1968 through December 2025 — nearly six decades of monthly price data.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43484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3" name="Image 2" descr="assets/icons/gri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460126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4165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17320" y="4782312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149,085 rows across 62 fields, covering every Local Authority, Region, Country, and the UK overall.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5806440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1F3864"/>
          </a:solidFill>
          <a:ln/>
        </p:spPr>
      </p:sp>
      <p:sp>
        <p:nvSpPr>
          <p:cNvPr id="17" name="Text 12"/>
          <p:cNvSpPr/>
          <p:nvPr/>
        </p:nvSpPr>
        <p:spPr>
          <a:xfrm>
            <a:off x="548640" y="58064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3063240" y="5806440"/>
            <a:ext cx="201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3264408" y="5806440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2E75B6"/>
          </a:solidFill>
          <a:ln/>
        </p:spPr>
      </p:sp>
      <p:sp>
        <p:nvSpPr>
          <p:cNvPr id="20" name="Text 15"/>
          <p:cNvSpPr/>
          <p:nvPr/>
        </p:nvSpPr>
        <p:spPr>
          <a:xfrm>
            <a:off x="3264408" y="58064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779008" y="5806440"/>
            <a:ext cx="201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980176" y="5806440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1F3864"/>
          </a:solidFill>
          <a:ln/>
        </p:spPr>
      </p:sp>
      <p:sp>
        <p:nvSpPr>
          <p:cNvPr id="23" name="Text 18"/>
          <p:cNvSpPr/>
          <p:nvPr/>
        </p:nvSpPr>
        <p:spPr>
          <a:xfrm>
            <a:off x="5980176" y="58064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494776" y="5806440"/>
            <a:ext cx="201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8695944" y="5806440"/>
            <a:ext cx="2514600" cy="594360"/>
          </a:xfrm>
          <a:prstGeom prst="roundRect">
            <a:avLst>
              <a:gd name="adj" fmla="val 12308"/>
            </a:avLst>
          </a:prstGeom>
          <a:solidFill>
            <a:srgbClr val="2E75B6"/>
          </a:solidFill>
          <a:ln/>
        </p:spPr>
      </p:sp>
      <p:sp>
        <p:nvSpPr>
          <p:cNvPr id="26" name="Text 21"/>
          <p:cNvSpPr/>
          <p:nvPr/>
        </p:nvSpPr>
        <p:spPr>
          <a:xfrm>
            <a:off x="8695944" y="58064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Data Cleaning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raw 34MB government export into an analysis-ready dataset.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01952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5" name="Image 0" descr="assets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473" y="1982785"/>
            <a:ext cx="149230" cy="1492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8745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Date to proper datetime; validated — zero invalid entries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980944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1" descr="assets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73" y="3061777"/>
            <a:ext cx="149230" cy="1492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953512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duplicate Region + Date combinations — none found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4059936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1" name="Image 2" descr="assets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73" y="4140769"/>
            <a:ext cx="149230" cy="1492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4032504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AveragePrice, SalesVolume, Index — no negative values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5138928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4" name="Image 3" descr="assets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73" y="5219761"/>
            <a:ext cx="149230" cy="14923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5111496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GeoLevel (UK / Country / Region / Local Authority), fixing a mislabeling bug for two national aggregates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989320" y="1901952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7" name="Image 4" descr="assets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0153" y="1982785"/>
            <a:ext cx="149230" cy="14923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46520" y="18745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Column-by-column missing value analysis: dropped structurally-aggregate-only fields, flagged buyer-type fields as recent-data-only (2011/2012+)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5989320" y="2980944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20" name="Image 5" descr="assets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0153" y="3061777"/>
            <a:ext cx="149230" cy="14923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446520" y="2953512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Year, Month, Quarter, Decade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5989320" y="4059936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23" name="Image 6" descr="assets/icons/che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0153" y="4140769"/>
            <a:ext cx="149230" cy="14923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446520" y="4032504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PriceGrowthSinceStart — cumulative growth per region since its first record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5989320" y="5138928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26" name="Image 7" descr="assets/icons/check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0153" y="5219761"/>
            <a:ext cx="149230" cy="14923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446520" y="5111496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RegionalPriceDiff / RegionalPriceDiffPercent — each region vs. the UK average, month by month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548640" y="6172200"/>
            <a:ext cx="10195560" cy="502920"/>
          </a:xfrm>
          <a:prstGeom prst="roundRect">
            <a:avLst>
              <a:gd name="adj" fmla="val 14545"/>
            </a:avLst>
          </a:prstGeom>
          <a:solidFill>
            <a:srgbClr val="1F3864"/>
          </a:solidFill>
          <a:ln/>
        </p:spPr>
      </p:sp>
      <p:sp>
        <p:nvSpPr>
          <p:cNvPr id="29" name="Text 19"/>
          <p:cNvSpPr/>
          <p:nvPr/>
        </p:nvSpPr>
        <p:spPr>
          <a:xfrm>
            <a:off x="548640" y="6172200"/>
            <a:ext cx="10195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149,085 rows × 62 columns, fully validated and ready for analysis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Exploratory Data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headline findings pulled directly from the data.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6" name="Image 0" descr="assets/icons/trend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2000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F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8,062%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price growth since 1968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154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£3,311 (Apr 1968) → £270,259 (Dec 2025)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97880" y="178308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2057400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2" name="Image 1" descr="assets/icons/hom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846" y="220004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19659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F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2.3×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6172200" y="2697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Detached vs. Flat price ratio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172200" y="3154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£440,564 vs. £192,826, latest month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8" name="Image 2" descr="assets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444032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42062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F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44.7%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822960" y="49377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owner-occupiers pay more than first-time buyers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22960" y="5394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£354,250 vs. £244,799 (England)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897880" y="402336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172200" y="4297680"/>
            <a:ext cx="548640" cy="54864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4" name="Image 3" descr="assets/icons/activit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846" y="4440326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03720" y="42062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F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 / 681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6172200" y="49377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with negative annual growth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172200" y="5394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Sharpest drop -15.6% (Feb 2009); fastest gain +50.4% (Jan 1973)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SQL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T-SQL against a UK_HPI table, and reproduced live in the notebook with DuckDB.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6" name="Image 0" descr="assets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1881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areas &amp; average price by geography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023360" y="182880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51960" y="205740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1" name="Image 1" descr="assets/icons/filt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719" y="21881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251960" y="26060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Price-band classification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498080" y="182880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26680" y="205740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6" name="Image 2" descr="assets/icon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439" y="218815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726680" y="26060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yearly aggregation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38328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361188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21" name="Image 3" descr="assets/icons/column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374263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1605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Per-region window calculations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023360" y="338328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251960" y="361188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26" name="Image 4" descr="assets/icons/cod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2719" y="374263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9204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LAG()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251960" y="41605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price change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498080" y="338328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726680" y="3611880"/>
            <a:ext cx="502920" cy="50292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31" name="Image 5" descr="assets/icons/awar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7439" y="374263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726680" y="41605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priciest regions per year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48640" y="521208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16294A"/>
          </a:solidFill>
          <a:ln/>
        </p:spPr>
      </p:sp>
      <p:sp>
        <p:nvSpPr>
          <p:cNvPr id="35" name="Text 27"/>
          <p:cNvSpPr/>
          <p:nvPr/>
        </p:nvSpPr>
        <p:spPr>
          <a:xfrm>
            <a:off x="777240" y="530352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A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YearlyAvg AS (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RegionName, Year, AVG(AveragePrice) AS AvgPrice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UK_HPI GROUP BY RegionName, Year
</a:t>
            </a:r>
            <a:pPr indent="0" marL="0">
              <a:buNone/>
            </a:pPr>
            <a:r>
              <a:rPr lang="en-US" sz="1150" dirty="0">
                <a:solidFill>
                  <a:srgbClr val="8FA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buNone/>
            </a:pPr>
            <a:r>
              <a:rPr lang="en-US" sz="1150" dirty="0">
                <a:solidFill>
                  <a:srgbClr val="BF8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*, LAG(AvgPrice) OVER (PARTITION BY RegionName ORDER BY Year) AS PriorYear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3" name="Image 0" descr="assets/icons/bar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633679"/>
            <a:ext cx="241402" cy="241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POWER BI DASHBOARD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74980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Page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4-page interactive dashboard built on a proper star schema (Fact_HousePrices + Dim_Region + Dim_Date), with 24 DAX measures behind it.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441448"/>
            <a:ext cx="91440" cy="91440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30428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 cards: average price, YoY change, sales volume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099816"/>
            <a:ext cx="91440" cy="91440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962656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price trend, 1968–2025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758184"/>
            <a:ext cx="91440" cy="91440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621024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price growth, with positive/negative shading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74920" y="502920"/>
            <a:ext cx="6537960" cy="5852160"/>
          </a:xfrm>
          <a:prstGeom prst="roundRect">
            <a:avLst>
              <a:gd name="adj" fmla="val 9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4" name="Image 1" descr="assets/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665474"/>
            <a:ext cx="6208776" cy="35270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3" name="Image 0" descr="assets/icons/bar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633679"/>
            <a:ext cx="241402" cy="241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POWER BI DASHBOARD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74980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Comparison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prices sit today, region by region — and how that ranking has shifted historically.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441448"/>
            <a:ext cx="91440" cy="91440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30428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by area, sorted highest to lowest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099816"/>
            <a:ext cx="91440" cy="91440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962656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ranked table using a RANKX measure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758184"/>
            <a:ext cx="91440" cy="91440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621024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price difference vs. the UK average, over time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4416552"/>
            <a:ext cx="91440" cy="91440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27939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GeoLevel slicer: drill from Local Authority up to Country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74920" y="502920"/>
            <a:ext cx="6537960" cy="5852160"/>
          </a:xfrm>
          <a:prstGeom prst="roundRect">
            <a:avLst>
              <a:gd name="adj" fmla="val 9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1" descr="assets/regio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688200"/>
            <a:ext cx="6208776" cy="348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3" name="Image 0" descr="assets/icons/bar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633679"/>
            <a:ext cx="241402" cy="241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POWER BI DASHBOARD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74980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&amp; Buyer Analysis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the market down by what's being bought, and by whom.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441448"/>
            <a:ext cx="91440" cy="91440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30428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Detached / Semi-Detached / Terraced / Flat price trends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099816"/>
            <a:ext cx="91440" cy="91440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962656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vs. Mortgage buyers, by country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758184"/>
            <a:ext cx="91440" cy="91440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621024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Buyers vs. Former Owner-Occupiers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4416552"/>
            <a:ext cx="91440" cy="91440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27939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Build vs. Existing property prices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74920" y="502920"/>
            <a:ext cx="6537960" cy="5852160"/>
          </a:xfrm>
          <a:prstGeom prst="roundRect">
            <a:avLst>
              <a:gd name="adj" fmla="val 9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1" descr="assets/property_buy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694470"/>
            <a:ext cx="6208776" cy="3469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3" name="Image 0" descr="assets/icons/bar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633679"/>
            <a:ext cx="241402" cy="241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POWER BI DASHBOARD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74980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Trends &amp; Volatility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have grown the most — and which have been the most unpredictable along the way.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441448"/>
            <a:ext cx="91440" cy="91440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30428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growth since 1968, by region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099816"/>
            <a:ext cx="91440" cy="91440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962656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vs. volatility scatter — risk vs. reward, by region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758184"/>
            <a:ext cx="91440" cy="91440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621024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volatility ranking (standard deviation of 12-month change)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4416552"/>
            <a:ext cx="91440" cy="91440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27939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Fastest-growth and sharpest-decline headline cards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74920" y="502920"/>
            <a:ext cx="6537960" cy="5852160"/>
          </a:xfrm>
          <a:prstGeom prst="roundRect">
            <a:avLst>
              <a:gd name="adj" fmla="val 9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1" descr="assets/tre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1681310"/>
            <a:ext cx="6208776" cy="34953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114800" cy="4114800"/>
          </a:xfrm>
          <a:prstGeom prst="ellipse">
            <a:avLst/>
          </a:prstGeom>
          <a:solidFill>
            <a:srgbClr val="16294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3840480" cy="3840480"/>
          </a:xfrm>
          <a:prstGeom prst="ellipse">
            <a:avLst/>
          </a:prstGeom>
          <a:solidFill>
            <a:srgbClr val="1629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94360" cy="594360"/>
          </a:xfrm>
          <a:prstGeom prst="ellipse">
            <a:avLst/>
          </a:prstGeom>
          <a:solidFill>
            <a:srgbClr val="BF8F00"/>
          </a:solidFill>
          <a:ln/>
        </p:spPr>
      </p:sp>
      <p:pic>
        <p:nvPicPr>
          <p:cNvPr id="6" name="Image 0" descr="assets/icons/cod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20747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pandas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1031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validation, feature engineering at scale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94360" cy="594360"/>
          </a:xfrm>
          <a:prstGeom prst="ellipse">
            <a:avLst/>
          </a:prstGeom>
          <a:solidFill>
            <a:srgbClr val="BF8F00"/>
          </a:solidFill>
          <a:ln/>
        </p:spPr>
      </p:sp>
      <p:pic>
        <p:nvPicPr>
          <p:cNvPr id="10" name="Image 1" descr="assets/icons/databas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174" y="20747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040880" y="21031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CTEs, window functions, CASE logic, aggregate analysis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" y="3429000"/>
            <a:ext cx="594360" cy="594360"/>
          </a:xfrm>
          <a:prstGeom prst="ellipse">
            <a:avLst/>
          </a:prstGeom>
          <a:solidFill>
            <a:srgbClr val="BF8F00"/>
          </a:solidFill>
          <a:ln/>
        </p:spPr>
      </p:sp>
      <p:pic>
        <p:nvPicPr>
          <p:cNvPr id="14" name="Image 2" descr="assets/icons/barchar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3583534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3246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600200" y="36118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for exploratory analysis, chart storytelling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263640" y="3429000"/>
            <a:ext cx="594360" cy="594360"/>
          </a:xfrm>
          <a:prstGeom prst="ellipse">
            <a:avLst/>
          </a:prstGeom>
          <a:solidFill>
            <a:srgbClr val="BF8F00"/>
          </a:solidFill>
          <a:ln/>
        </p:spPr>
      </p:sp>
      <p:pic>
        <p:nvPicPr>
          <p:cNvPr id="18" name="Image 3" descr="assets/icons/map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174" y="3583534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40880" y="3246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7040880" y="36118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modeling, DAX measures, interactive dashboards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22960" y="5394960"/>
            <a:ext cx="2011680" cy="0"/>
          </a:xfrm>
          <a:prstGeom prst="line">
            <a:avLst/>
          </a:prstGeom>
          <a:noFill/>
          <a:ln w="25400">
            <a:solidFill>
              <a:srgbClr val="BF8F0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22960" y="5577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project: cleaned dataset · Jupyter notebook · standalone SQL file · Power BI dashboard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22960" y="6126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2026-09-27T18:11:51Z</dcterms:created>
  <dcterms:modified xsi:type="dcterms:W3CDTF">2026-09-27T18:11:51Z</dcterms:modified>
</cp:coreProperties>
</file>